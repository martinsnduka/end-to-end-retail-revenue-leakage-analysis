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301800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Retail Revenue Leakage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390477"/>
            <a:ext cx="463495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Despite sustained revenue growth over three years, a leading retail chain has experienced declining profitability — signaling hidden revenue leakage. This analysis uses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Excel, Python, SQL, and Power BI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uncover the root causes and deliver actionable strategies.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0023" y="3551634"/>
            <a:ext cx="1785268" cy="29006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</p:sp>
      <p:sp>
        <p:nvSpPr>
          <p:cNvPr id="6" name="Text 3"/>
          <p:cNvSpPr/>
          <p:nvPr/>
        </p:nvSpPr>
        <p:spPr>
          <a:xfrm>
            <a:off x="632594" y="3597920"/>
            <a:ext cx="205732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DATA-DRIVEN INVESTIGATION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402384" y="3551634"/>
            <a:ext cx="1219944" cy="290066"/>
          </a:xfrm>
          <a:prstGeom prst="roundRect">
            <a:avLst>
              <a:gd name="adj" fmla="val 1787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f65f6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494955" y="3597920"/>
            <a:ext cx="1492002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RETAIL ANALYTICS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999530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Core Problem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69023" y="1659582"/>
            <a:ext cx="4634954" cy="2484388"/>
          </a:xfrm>
          <a:prstGeom prst="roundRect">
            <a:avLst>
              <a:gd name="adj" fmla="val 2609"/>
            </a:avLst>
          </a:prstGeom>
          <a:solidFill>
            <a:srgbClr val="790709"/>
          </a:solidFill>
          <a:ln w="9525">
            <a:solidFill>
              <a:srgbClr val="9220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78548" y="1669107"/>
            <a:ext cx="2307952" cy="1356122"/>
          </a:xfrm>
          <a:prstGeom prst="rect">
            <a:avLst/>
          </a:prstGeom>
          <a:solidFill>
            <a:srgbClr val="790709"/>
          </a:solidFill>
          <a:ln/>
        </p:spPr>
      </p:sp>
      <p:sp>
        <p:nvSpPr>
          <p:cNvPr id="6" name="Text 3"/>
          <p:cNvSpPr/>
          <p:nvPr/>
        </p:nvSpPr>
        <p:spPr>
          <a:xfrm>
            <a:off x="4132808" y="182336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Trend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32808" y="2130251"/>
            <a:ext cx="1999431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Sustained growth across multiple regions over three years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0" y="1669107"/>
            <a:ext cx="2307952" cy="1356122"/>
          </a:xfrm>
          <a:prstGeom prst="rect">
            <a:avLst/>
          </a:prstGeom>
          <a:solidFill>
            <a:srgbClr val="790709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1669107"/>
            <a:ext cx="19050" cy="1356122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</p:sp>
      <p:sp>
        <p:nvSpPr>
          <p:cNvPr id="10" name="Text 7"/>
          <p:cNvSpPr/>
          <p:nvPr/>
        </p:nvSpPr>
        <p:spPr>
          <a:xfrm>
            <a:off x="6440760" y="182336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Profitability Trend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40760" y="2130251"/>
            <a:ext cx="199943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Consistent decline in overall profit despite rising sales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78548" y="3025229"/>
            <a:ext cx="4615904" cy="1109216"/>
          </a:xfrm>
          <a:prstGeom prst="rect">
            <a:avLst/>
          </a:prstGeom>
          <a:solidFill>
            <a:srgbClr val="790709"/>
          </a:solidFill>
          <a:ln/>
        </p:spPr>
      </p:sp>
      <p:sp>
        <p:nvSpPr>
          <p:cNvPr id="13" name="Shape 10"/>
          <p:cNvSpPr/>
          <p:nvPr/>
        </p:nvSpPr>
        <p:spPr>
          <a:xfrm>
            <a:off x="3978548" y="3025229"/>
            <a:ext cx="4615904" cy="19050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</p:sp>
      <p:sp>
        <p:nvSpPr>
          <p:cNvPr id="14" name="Text 11"/>
          <p:cNvSpPr/>
          <p:nvPr/>
        </p:nvSpPr>
        <p:spPr>
          <a:xfrm>
            <a:off x="4132808" y="3179490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Gap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32808" y="3486373"/>
            <a:ext cx="43073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leakage suspected across operations, discounts, shipping, and product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59284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Model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196504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 interconnected tables form the analytical foundation.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1616943"/>
            <a:ext cx="385763" cy="385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023" y="2195587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Fact Sales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0023" y="2502471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Central transactional table — quantities, pricing, discounts, costs, and profit margins per transaction.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441" y="1616943"/>
            <a:ext cx="385763" cy="385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8441" y="2195587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Products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8441" y="2502471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 details: name, category (Furniture, Office Supplies, Technology), and sub-category.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3304877"/>
            <a:ext cx="385763" cy="3857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0023" y="388352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40023" y="4190405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profiles by segment: Consumer, Corporate, and Home Office.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8441" y="3304877"/>
            <a:ext cx="385763" cy="3857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8441" y="388352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Stores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8441" y="4190405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Retail branch names and geographic regions for regional profitability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60772"/>
            <a:ext cx="3790355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Exploratory Data Analysis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40023" y="1072083"/>
            <a:ext cx="8521154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Python-based EDA examined seven key business areas to identify trends, patterns, and revenue leakage sources.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0023" y="1407468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0023" y="1617836"/>
            <a:ext cx="2609255" cy="190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6" name="Text 4"/>
          <p:cNvSpPr/>
          <p:nvPr/>
        </p:nvSpPr>
        <p:spPr>
          <a:xfrm>
            <a:off x="540023" y="1723430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Analysis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0023" y="1981795"/>
            <a:ext cx="2609255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Overall sales performance and patterns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7373" y="1407468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7373" y="1617836"/>
            <a:ext cx="2609255" cy="190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0" name="Text 8"/>
          <p:cNvSpPr/>
          <p:nvPr/>
        </p:nvSpPr>
        <p:spPr>
          <a:xfrm>
            <a:off x="3267373" y="1723430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Profitability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67373" y="1981795"/>
            <a:ext cx="2609255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vs. operating profit relationship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94722" y="1407468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94722" y="1617836"/>
            <a:ext cx="2609255" cy="190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4" name="Text 12"/>
          <p:cNvSpPr/>
          <p:nvPr/>
        </p:nvSpPr>
        <p:spPr>
          <a:xfrm>
            <a:off x="5994722" y="1723430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Product Performance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94722" y="1981795"/>
            <a:ext cx="2609255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and low-performing products; focus on the 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7 lowest-profit products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0023" y="2606055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0023" y="2816423"/>
            <a:ext cx="2609255" cy="190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8" name="Text 16"/>
          <p:cNvSpPr/>
          <p:nvPr/>
        </p:nvSpPr>
        <p:spPr>
          <a:xfrm>
            <a:off x="540023" y="2922017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Store Performance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0023" y="3180383"/>
            <a:ext cx="2609255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Operating profit by branch to identify underperformers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67373" y="2606055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67373" y="2816423"/>
            <a:ext cx="2609255" cy="190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22" name="Text 20"/>
          <p:cNvSpPr/>
          <p:nvPr/>
        </p:nvSpPr>
        <p:spPr>
          <a:xfrm>
            <a:off x="3267373" y="2922017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Segments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67373" y="3180383"/>
            <a:ext cx="2609255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and profit contribution by segment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94722" y="2606055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94722" y="2816423"/>
            <a:ext cx="2609255" cy="190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26" name="Text 24"/>
          <p:cNvSpPr/>
          <p:nvPr/>
        </p:nvSpPr>
        <p:spPr>
          <a:xfrm>
            <a:off x="5994722" y="2922017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Shipping Analysis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94722" y="3180383"/>
            <a:ext cx="2609255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Impact of shipping modes on profitability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0023" y="3804642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0023" y="4015011"/>
            <a:ext cx="8063954" cy="190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30" name="Text 28"/>
          <p:cNvSpPr/>
          <p:nvPr/>
        </p:nvSpPr>
        <p:spPr>
          <a:xfrm>
            <a:off x="540023" y="4120604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Discount Analysis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0023" y="4378970"/>
            <a:ext cx="8063954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Scatter plot revealed 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negative correlation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between discount % and profit; discounts above 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~15%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likely generate losses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28790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SQL &amp; Power BI Analysis Pipeline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687" y="715714"/>
            <a:ext cx="5438626" cy="4087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73870" y="2598873"/>
            <a:ext cx="991848" cy="604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Three-Phase Analytics Pipeline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557609" y="3781102"/>
            <a:ext cx="1475549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SQL Server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557609" y="4047207"/>
            <a:ext cx="1475549" cy="27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queries and aggregations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098239" y="3781102"/>
            <a:ext cx="1475549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Power BI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098239" y="4047207"/>
            <a:ext cx="1475549" cy="27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 schema, DAX, dashboards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07765" y="1099889"/>
            <a:ext cx="1515869" cy="20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Python EDA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07765" y="1365994"/>
            <a:ext cx="1515869" cy="27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Cleaning and normalization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0023" y="4846960"/>
            <a:ext cx="8521154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Cleaned datasets from Python were exported to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SQL Server Management Studio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business-focused analytical queries, then modeled in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a star schema and DAX measures to build interactive executive dashboards.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2271"/>
            <a:ext cx="5521226" cy="408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Findings: Products &amp; Discounts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59" y="2214637"/>
            <a:ext cx="4540821" cy="13328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577" y="1191146"/>
            <a:ext cx="2493764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Underperforming Categories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19577" y="1535534"/>
            <a:ext cx="2589088" cy="114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Electronics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Sport &amp; Leisure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underperformed across all regions.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Health &amp; Body, Electronics,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Home &amp; Living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generate high sales but low profits.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19577" y="2878559"/>
            <a:ext cx="2589088" cy="19050"/>
          </a:xfrm>
          <a:prstGeom prst="roundRect">
            <a:avLst>
              <a:gd name="adj" fmla="val 60000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19577" y="3092053"/>
            <a:ext cx="20913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Discount Impact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19577" y="3436441"/>
            <a:ext cx="2589088" cy="114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Discount bands of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11%–20% and above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consistently generated low profit. Electronics has the highest discount rate yet still produces low profit — a clear leakage point.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56605"/>
            <a:ext cx="478117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Findings: Shipping Costs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35" y="1945258"/>
            <a:ext cx="4985965" cy="839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0962" y="1270918"/>
            <a:ext cx="25777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High Shipping Cost = Active Losses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30962" y="1853803"/>
            <a:ext cx="2577703" cy="162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Orders in the "High Shipping Cost" band (above ₦15,000) are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actively losing money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Shipping modes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Second Class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Standard Class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generated higher profits and should be prioritized.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3786485"/>
            <a:ext cx="3954810" cy="9004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9533" y="3959796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Generated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9533" y="4266679"/>
            <a:ext cx="353198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$547,912.68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9093" y="3786485"/>
            <a:ext cx="3954884" cy="9004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98603" y="3959796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Operating Profit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898603" y="4266679"/>
            <a:ext cx="353206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65F6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−$133,889.52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5591"/>
            <a:ext cx="5660975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Findings: Customers &amp; Regions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455" y="2410644"/>
            <a:ext cx="2344862" cy="9682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7167" y="1241227"/>
            <a:ext cx="21449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27167" y="1601688"/>
            <a:ext cx="2581498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Consumer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segment customers are the most loyal and generate the highest profits across all segments.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27167" y="2531120"/>
            <a:ext cx="2581498" cy="19050"/>
          </a:xfrm>
          <a:prstGeom prst="roundRect">
            <a:avLst>
              <a:gd name="adj" fmla="val 60000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27167" y="2756297"/>
            <a:ext cx="21449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Regional Leakage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27167" y="3116759"/>
            <a:ext cx="2581498" cy="144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South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(24.96% of revenue) and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North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(24.16% of revenue) contribute significant sales but generate disproportionately low profit — requiring immediate operational review.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17327"/>
            <a:ext cx="579447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Findings: Stores &amp; Sales Trends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395" y="2217018"/>
            <a:ext cx="3114973" cy="1369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0962" y="1331640"/>
            <a:ext cx="24498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Stores Requiring Attention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30962" y="1700213"/>
            <a:ext cx="257770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Ikeja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Aba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branches show the weakest operating profit performance and need immediate operational intervention.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30962" y="2899916"/>
            <a:ext cx="2577703" cy="19050"/>
          </a:xfrm>
          <a:prstGeom prst="roundRect">
            <a:avLst>
              <a:gd name="adj" fmla="val 60000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30962" y="3131046"/>
            <a:ext cx="26519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Sales Performance Over Time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30962" y="3499619"/>
            <a:ext cx="257770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 have grown year-over-year, confirming that the profitability decline is driven by operational inefficiencies — not falling demand.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75431"/>
            <a:ext cx="3243263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Recommendations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976461"/>
            <a:ext cx="4634954" cy="8780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8645" y="1297930"/>
            <a:ext cx="188044" cy="235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157585" y="1116062"/>
            <a:ext cx="139303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Cap Discounts at 15%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157585" y="1351285"/>
            <a:ext cx="3877791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Eliminate discounts above 15%; reduce Electronics discounts specifically.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023" y="1956271"/>
            <a:ext cx="4634954" cy="7521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8645" y="2214786"/>
            <a:ext cx="188044" cy="235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57585" y="2095872"/>
            <a:ext cx="152556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Optimize Shipping Modes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157585" y="2331095"/>
            <a:ext cx="3877791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Prioritize Second Class and Standard Class shipping for better margins.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023" y="2810247"/>
            <a:ext cx="4634954" cy="8780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8645" y="3131716"/>
            <a:ext cx="188044" cy="235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157585" y="2949848"/>
            <a:ext cx="154855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Focus on Low Performers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157585" y="3185071"/>
            <a:ext cx="3877791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 attention to underperforming product categories and the Ikeja and Aba branches.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023" y="3790057"/>
            <a:ext cx="4634954" cy="878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8645" y="4111526"/>
            <a:ext cx="188044" cy="235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57585" y="3929658"/>
            <a:ext cx="20834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Investigate North &amp; South Regions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1157585" y="4164881"/>
            <a:ext cx="3877791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Assess staff performance, delivery times, and customer satisfaction in these high-revenue, low-profit regions.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2026-07-02T19:46:26Z</dcterms:created>
  <dcterms:modified xsi:type="dcterms:W3CDTF">2026-07-02T19:46:26Z</dcterms:modified>
</cp:coreProperties>
</file>